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0" b="1">
                <a:solidFill>
                  <a:srgbClr val="1A2535"/>
                </a:solidFill>
                <a:latin typeface="Arial"/>
              </a:rPr>
              <a:t>مشاركة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91840"/>
            <a:ext cx="8531352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D4A017"/>
                </a:solidFill>
                <a:latin typeface="Arial"/>
              </a:rPr>
              <a:t>دليل المستخدم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مشاركة — نظام إدارة المبيعات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C040"/>
                </a:solidFill>
                <a:latin typeface="Arial"/>
              </a:rPr>
              <a:t>دليلك الشامل لاستخدام المنصة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ما هي مشاركة؟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نظام متكامل لإدارة وإرسال مبيعات فروعك إلى مشغلي المراكز التجارية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يدعم الإدخال اليومي والشهري وإدخال فترات مخصصة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يتكامل مباشرة مع سينومي لإرسال البيانات آلياً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كيف تسجّل دخولك؟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١.  افتح رابط المنصة في متصفحك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٢.  أدخل بريدك الإلكتروني وكلمة المرور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٣.  عند أول دخول: غيّر كلمة المرور فوراً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لوحة التحكم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بطاقات KPI: إجمالي المبيعات، المعلقة، المرسلة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جدول المدخلات الحديثة مع حالة كل سجل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القائمة الجانبية تتيح التنقل بين جميع الأقسام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فهم فروعك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كل فرع له: اسم، رمز، رقم عقد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مبيعاتك دائماً مرتبطة بفرع محدد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راجع فروعك من قسم "الفروع" في القائمة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إدخال مبيعات يومية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8463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١.  اختر "إضافة مبيعات"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٢.  حدّد الفرع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٣.  اختر نوع الإدخال: يومي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٤.  حدد التاريخ وأدخل المبلغ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٥.  اضغط حفظ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إدخال مبيعات شهرية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اختر نوع الإدخال: شهري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حدد الشهر والسنة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أدخل المبلغ الإجمالي للشهر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يوزّع النظام المبلغ تلقائياً على أيام الشهر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إدخال مبيعات لفترة محددة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اختر نوع الإدخال: فترة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حدد تاريخ البداية والنهاية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أدخل المبلغ الإجمالي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يوزّع النظام المبلغ بالتساوي على أيام الفترة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راجع مدخلاتك قبل الإرسال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تحقق من السجلات المعلقة في لوحة التحكم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استخدم أيقونة الحذف لتصحيح أي خطأ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السجلات المُرسلة (🔒) لا يمكن تعديلها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إرسال المبيعات إلى المركز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57200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١.  اذهب إلى "إرسال الفواتير"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٢.  اختر الفرع والشهر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٣.  اضغط إرسال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٤.  يُرسل النظام البيانات إلى سينومي تلقائياً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تأكيد الإرسال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تتغير الحالة إلى "مرسلة" بعد نجاح الإرسال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يمكنك مراجعة سجل الإرساليات في قسم "تقرير الإرسالات"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يحتفظ النظام بإثبات الإرسال لكل عملية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إرسال المبيعات عبر البوت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يمكنك إرسال مبيعاتك عبر واتساب أو تيليجرام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يجب أن يفعّل المشرف حسابك أولاً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أرسل رسالة مثل: "مبيعات اليوم 5000"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تحديد الفرع عبر البوت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فرع واحد: يُختار تلقائياً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فروع متعددة: "فرع جدة: مبيعات اليوم 5000"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أو انتظر حتى يسألك البوت عن الفرع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صيغ الرسائل المدعومة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يومي:   "مبيعات اليوم 5000"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شهري:   "مبيعات شهر مارس 80000"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فترة:    "مبيعات من 1 أبريل إلى 15 أبريل 25000"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التقارير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ملخصات شهرية مفصّلة لكل فرع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مقارنة الأداء عبر الفترات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إمكانية الطباعة والتصدير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رفع تذكرة دعم فني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57200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١.  اضغط "رفع تذكرة دعم" من القائمة الجانبية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٢.  اختر تصنيف المشكلة: تكامل / ترخيص / تقني / تقارير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٣.  اشرح المشكلة وأرفق لقطة شاشة إن أمكن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٤.  اضغط إرسال التذكرة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ماذا يحدث بعد إرسال التذكرة؟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38912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تحصل على رقم تذكرة فريد (SUP-XXXX)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احتفظ بالرقم للمتابعة</a:t>
            </a:r>
          </a:p>
          <a:p>
            <a:pPr algn="r">
              <a:spcAft>
                <a:spcPts val="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يتواصل معك فريق الدعم عبر البريد الإلكتروني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مشاكل شائعة ونصائح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466344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•  "لا يمكن الإرسال": تحقق من اكتمال جميع المدخلات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•  "المبلغ مُرسل مسبقاً": تواصل مع المشرف لإلغاء القفل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•  دائماً أدخل المبالغ بالريال السعودي (ر.س)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•  أي مشكلة؟ ارفع تذكرة دعم من داخل النظام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017"/>
                </a:solidFill>
                <a:latin typeface="Arial"/>
              </a:rPr>
              <a:t>دليل المشرف السريع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148072" cy="411480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82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•  إدارة مشتركي البوت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•  متابعة تذاكر الدعم وحلّها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48072" cy="4114800"/>
          </a:xfrm>
          <a:prstGeom prst="roundRect">
            <a:avLst>
              <a:gd name="adj" fmla="val 5000"/>
            </a:avLst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82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•  إدارة المستأجرين والمستخدمين</a:t>
            </a:r>
          </a:p>
          <a:p>
            <a:pPr algn="r">
              <a:spcAft>
                <a:spcPts val="400"/>
              </a:spcAft>
            </a:pPr>
            <a:r>
              <a:rPr sz="2100">
                <a:solidFill>
                  <a:srgbClr val="FFFFFF"/>
                </a:solidFill>
                <a:latin typeface="Arial"/>
              </a:rPr>
              <a:t>•  إصدار مفاتيح API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28016"/>
            <a:ext cx="384048" cy="384048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  <a:latin typeface="Arial"/>
              </a:rPr>
              <a:t>20</a:t>
            </a:r>
          </a:p>
        </p:txBody>
      </p:sp>
      <p:sp>
        <p:nvSpPr>
          <p:cNvPr id="4" name="Oval 3"/>
          <p:cNvSpPr/>
          <p:nvPr/>
        </p:nvSpPr>
        <p:spPr>
          <a:xfrm>
            <a:off x="4727448" y="548640"/>
            <a:ext cx="2743200" cy="27432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0" b="1">
                <a:solidFill>
                  <a:srgbClr val="0F1724"/>
                </a:solidFill>
                <a:latin typeface="Arial"/>
              </a:rPr>
              <a:t>م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520440"/>
            <a:ext cx="8531352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D4A017"/>
                </a:solidFill>
                <a:latin typeface="Arial"/>
              </a:rPr>
              <a:t>شكراً لاستخدامك مشاركة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rial"/>
              </a:rPr>
              <a:t>للدعم الفني: ارفع تذكرة من داخل النظام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C040"/>
                </a:solidFill>
                <a:latin typeface="Arial"/>
              </a:rPr>
              <a:t>مشاركة — شريكك في إدارة مبيعاتك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