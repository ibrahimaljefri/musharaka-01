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79876" y="640080"/>
            <a:ext cx="5029200" cy="5029200"/>
          </a:xfrm>
          <a:prstGeom prst="ellipse">
            <a:avLst/>
          </a:prstGeom>
          <a:solidFill alpha="5000"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74235" y="1234439"/>
            <a:ext cx="3840480" cy="3840480"/>
          </a:xfrm>
          <a:prstGeom prst="ellipse">
            <a:avLst/>
          </a:prstGeom>
          <a:solidFill alpha="5000"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14316" y="1874520"/>
            <a:ext cx="2560320" cy="2560320"/>
          </a:xfrm>
          <a:prstGeom prst="ellipse">
            <a:avLst/>
          </a:prstGeom>
          <a:solidFill alpha="5000"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97196" y="1783080"/>
            <a:ext cx="2194560" cy="2194560"/>
          </a:xfrm>
          <a:prstGeom prst="ellipse">
            <a:avLst/>
          </a:prstGeom>
          <a:solidFill>
            <a:srgbClr val="1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59E0B"/>
                </a:solidFill>
              </a:rPr>
              <a:t>مشاركة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1276" y="4663440"/>
            <a:ext cx="54864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هوية بصرية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59E0B"/>
                </a:solidFill>
              </a:rPr>
              <a:t>شريكك في إدارة مبيعاتك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قصة العلامة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789920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FFFFFF"/>
                </a:solidFill>
              </a:rPr>
              <a:t>مشاركة هو أكثر من مجرد نظام — إنه شريك استراتيجي لكل مستأجر في المراكز التجارية.
ولدت الفكرة من تحدٍّ حقيقي: إدارة مبيعات الفروع وإرسالها إلى المشغلين بدقة وموثوقية.
مشاركة يجعل هذا التحدي شيئاً من الماضي.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5577840"/>
            <a:ext cx="73152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9E0B"/>
                </a:solidFill>
              </a:rPr>
              <a:t>شريكك في إدارة مبيعاتك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اسم العلامة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9E0B"/>
                </a:solidFill>
              </a:rPr>
              <a:t>مشاركة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Musharaka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840480"/>
            <a:ext cx="7589520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8862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</a:rPr>
              <a:t>تعني: المشاركة، الشراكة، التعاون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تعكس العلامة علاقة شراكة حقيقية بين النظام وعملائه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العلامة الرمزية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2286000" cy="2286000"/>
          </a:xfrm>
          <a:prstGeom prst="roundRect">
            <a:avLst/>
          </a:prstGeom>
          <a:solidFill>
            <a:srgbClr val="F59E0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النسخة الأساسية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645920"/>
            <a:ext cx="2286000" cy="2286000"/>
          </a:xfrm>
          <a:prstGeom prst="roundRect">
            <a:avLst/>
          </a:prstGeom>
          <a:solidFill>
            <a:srgbClr val="080E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59E0B"/>
                </a:solidFill>
              </a:rPr>
              <a:t>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النسخة الداكنة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22860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645920"/>
            <a:ext cx="2286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80E1A"/>
                </a:solidFill>
              </a:rPr>
              <a:t>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النسخة الفاتحة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الشعار الرئيسي للعلامة التجارية — يُستخدم في الهيدر والفاتورة وجميع المواد الرسمية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اللون الأساسي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280160"/>
            <a:ext cx="6675120" cy="2286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749039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#F59E0B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389120"/>
            <a:ext cx="8503920" cy="73152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4348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</a:rPr>
              <a:t>الذهبي — يرمز إلى الثقة والجودة والسوق السعودي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5780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</a:rPr>
              <a:t>يُستخدم في: الأزرار الرئيسية · التشديد · الهوية · رقم العقد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806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RGB: 245, 158, 11     HSL: 38°, 92%, 50%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لوحة الألوان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1934870" cy="2743200"/>
          </a:xfrm>
          <a:prstGeom prst="roundRect">
            <a:avLst/>
          </a:prstGeom>
          <a:solidFill>
            <a:srgbClr val="080E1A"/>
          </a:solidFill>
          <a:ln w="12700">
            <a:solidFill>
              <a:srgbClr val="33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93487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44C5E"/>
                </a:solidFill>
              </a:rPr>
              <a:t>#080E1A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51960"/>
            <a:ext cx="21634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الخلفية الرئيسية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0710" y="1371600"/>
            <a:ext cx="1934870" cy="2743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0710" y="1371600"/>
            <a:ext cx="193487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E1A"/>
                </a:solidFill>
              </a:rPr>
              <a:t>#F59E0B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9270" y="4251960"/>
            <a:ext cx="21634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اللون الأساسي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4180" y="1371600"/>
            <a:ext cx="1934870" cy="27432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4180" y="1371600"/>
            <a:ext cx="193487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#D97706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2740" y="4251960"/>
            <a:ext cx="21634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اللون الثانوي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7651" y="1371600"/>
            <a:ext cx="1934870" cy="2743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7651" y="1371600"/>
            <a:ext cx="193487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#10B981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6211" y="4251960"/>
            <a:ext cx="21634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النجاح والاكتمال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1121" y="1371600"/>
            <a:ext cx="193487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31121" y="1371600"/>
            <a:ext cx="193487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80E1A"/>
                </a:solidFill>
              </a:rPr>
              <a:t>#FFFFFF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9681" y="4251960"/>
            <a:ext cx="216347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النصوص على الداكن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264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جميع ألوان العلامة متوافقة مع معايير إتاحة الوصول WCAG AA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الطباعة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6858000" cy="502920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Tajawal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FFFFFF"/>
                </a:solidFill>
              </a:rPr>
              <a:t>مشاركة لإدارة المبيعات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1">
                <a:solidFill>
                  <a:srgbClr val="F59E0B"/>
                </a:solidFill>
              </a:rPr>
              <a:t>شريكك في إدارة مبيعاتك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B7280"/>
                </a:solidFill>
              </a:rPr>
              <a:t>تقارير المبيعات اليومية والشهرية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خط تجوال — عربي عصري واضح، مصمم للشاشات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188720"/>
            <a:ext cx="4114800" cy="502920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280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</a:rPr>
              <a:t>أوزان الخط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Light 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60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Regular 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9183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 i="0">
                <a:solidFill>
                  <a:srgbClr val="FFFFFF"/>
                </a:solidFill>
              </a:rPr>
              <a:t>Medium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5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FFFFF"/>
                </a:solidFill>
              </a:rPr>
              <a:t>Bold 700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75487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 i="0">
                <a:solidFill>
                  <a:srgbClr val="FFFFFF"/>
                </a:solidFill>
              </a:rPr>
              <a:t>ExtraBold 800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صوت العلامة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2475738" cy="4114800"/>
          </a:xfrm>
          <a:prstGeom prst="roundRect">
            <a:avLst/>
          </a:prstGeom>
          <a:solidFill>
            <a:srgbClr val="080E1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24757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موثوق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3200400"/>
            <a:ext cx="2247138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24757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نتحدث بثقة ودقة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1578" y="1371600"/>
            <a:ext cx="2475738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1578" y="2011680"/>
            <a:ext cx="24757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واضح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1306" y="3200400"/>
            <a:ext cx="2247138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1578" y="3291840"/>
            <a:ext cx="24757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لا تعقيد ولا غموض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371600"/>
            <a:ext cx="2475738" cy="4114800"/>
          </a:xfrm>
          <a:prstGeom prst="roundRect">
            <a:avLst/>
          </a:prstGeom>
          <a:solidFill>
            <a:srgbClr val="080E1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5916" y="2011680"/>
            <a:ext cx="24757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شريك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5644" y="3200400"/>
            <a:ext cx="2247138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5916" y="3291840"/>
            <a:ext cx="24757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لسنا موردين، بل شركاء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90254" y="1371600"/>
            <a:ext cx="2475738" cy="41148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0254" y="2011680"/>
            <a:ext cx="247573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محلّي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9982" y="3200400"/>
            <a:ext cx="2247138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90254" y="3291840"/>
            <a:ext cx="247573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نفهم السوق السعودي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0B981"/>
                </a:solidFill>
              </a:rPr>
              <a:t>الاستخدام الصحيح  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3224784" cy="3840480"/>
          </a:xfrm>
          <a:prstGeom prst="roundRect">
            <a:avLst/>
          </a:prstGeom>
          <a:solidFill>
            <a:srgbClr val="080E1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9E0B"/>
                </a:solidFill>
              </a:rPr>
              <a:t>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3224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الشعار على خلفية داكنة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3424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0624" y="1280160"/>
            <a:ext cx="3224784" cy="3840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0624" y="128016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080E1A"/>
                </a:solidFill>
              </a:rPr>
              <a:t>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0624" y="5212080"/>
            <a:ext cx="3224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الشعار على خلفية بيضاء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6808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4008" y="1280160"/>
            <a:ext cx="3224784" cy="38404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4008" y="128016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9E0B"/>
                </a:solidFill>
              </a:rPr>
              <a:t>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4008" y="5212080"/>
            <a:ext cx="3224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مسافة كافية حول الشعار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EF4444"/>
                </a:solidFill>
              </a:rPr>
              <a:t>الاستخدامات الخاطئة  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3224784" cy="3840480"/>
          </a:xfrm>
          <a:prstGeom prst="roundRect">
            <a:avLst/>
          </a:prstGeom>
          <a:solidFill>
            <a:srgbClr val="1E26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EF4444"/>
                </a:solidFill>
              </a:rPr>
              <a:t>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3224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لا تُغيّر ألوان الشعار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0624" y="1280160"/>
            <a:ext cx="3224784" cy="3840480"/>
          </a:xfrm>
          <a:prstGeom prst="roundRect">
            <a:avLst/>
          </a:prstGeom>
          <a:solidFill>
            <a:srgbClr val="1E26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0624" y="128016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6B7280"/>
                </a:solidFill>
              </a:rPr>
              <a:t>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0624" y="137160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0624" y="5212080"/>
            <a:ext cx="3224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لا تُضف ظلالاً أو تأثيرات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4008" y="1280160"/>
            <a:ext cx="3224784" cy="3840480"/>
          </a:xfrm>
          <a:prstGeom prst="roundRect">
            <a:avLst/>
          </a:prstGeom>
          <a:solidFill>
            <a:srgbClr val="1E263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4008" y="128016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9E0B"/>
                </a:solidFill>
              </a:rPr>
              <a:t>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4008" y="1371600"/>
            <a:ext cx="32247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F4444"/>
                </a:solidFill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4008" y="5212080"/>
            <a:ext cx="3224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لا تُشوّه أو تُمدّد الشعار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لغة التصميم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5134356" cy="210312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82996" y="1417319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9057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59E0B"/>
                </a:solidFill>
              </a:rPr>
              <a:t>بطاقات زجاجية شفافة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057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Glassmorphism cards with blur effect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1280160"/>
            <a:ext cx="5134356" cy="2103120"/>
          </a:xfrm>
          <a:prstGeom prst="roundRect">
            <a:avLst/>
          </a:prstGeom>
          <a:solidFill>
            <a:srgbClr val="121C3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91672" y="1417319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3076" y="1417319"/>
            <a:ext cx="49057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59E0B"/>
                </a:solidFill>
              </a:rPr>
              <a:t>تدرجات داكنة ناعمة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2057400"/>
            <a:ext cx="49057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Dark gradient backgrounds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57600"/>
            <a:ext cx="5134356" cy="210312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379476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49057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59E0B"/>
                </a:solidFill>
              </a:rPr>
              <a:t>أزرار ذهبية واضحة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9057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Gold CTA buttons — clear call-to-action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3657600"/>
            <a:ext cx="5134356" cy="2103120"/>
          </a:xfrm>
          <a:prstGeom prst="roundRect">
            <a:avLst/>
          </a:prstGeom>
          <a:solidFill>
            <a:srgbClr val="121C32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91672" y="3794760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3076" y="3794760"/>
            <a:ext cx="490575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700" b="1" i="0">
                <a:solidFill>
                  <a:srgbClr val="F59E0B"/>
                </a:solidFill>
              </a:rPr>
              <a:t>مسافات متسقة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4434840"/>
            <a:ext cx="49057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Consistent 8px spacing grid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واجهة التطبيق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5303520"/>
          </a:xfrm>
          <a:prstGeom prst="roundRect">
            <a:avLst/>
          </a:prstGeom>
          <a:solidFill>
            <a:srgbClr val="0D142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solidFill>
            <a:srgbClr val="07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</a:rPr>
              <a:t>مشاركة  |  لوحة التحكم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●  ●  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2491740" cy="1188720"/>
          </a:xfrm>
          <a:prstGeom prst="roundRect">
            <a:avLst/>
          </a:prstGeom>
          <a:solidFill>
            <a:srgbClr val="10182E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24917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٢٤٥,٨٠٠ ر.س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إجمالي المبيعات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6140" y="1828800"/>
            <a:ext cx="2491740" cy="1188720"/>
          </a:xfrm>
          <a:prstGeom prst="roundRect">
            <a:avLst/>
          </a:prstGeom>
          <a:solidFill>
            <a:srgbClr val="10182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6140" y="1828800"/>
            <a:ext cx="24917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6140" y="192024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١٢٨ تقرير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6140" y="246888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التقارير المُرسلة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828800"/>
            <a:ext cx="2491740" cy="1188720"/>
          </a:xfrm>
          <a:prstGeom prst="roundRect">
            <a:avLst/>
          </a:prstGeom>
          <a:solidFill>
            <a:srgbClr val="10182E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828800"/>
            <a:ext cx="249174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92024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</a:rPr>
              <a:t>٣٤ مستأجر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46888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المستأجرون النشطون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3940" y="1828800"/>
            <a:ext cx="2491740" cy="1188720"/>
          </a:xfrm>
          <a:prstGeom prst="roundRect">
            <a:avLst/>
          </a:prstGeom>
          <a:solidFill>
            <a:srgbClr val="10182E"/>
          </a:solidFill>
          <a:ln w="10160">
            <a:solidFill>
              <a:srgbClr val="6B7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63940" y="1828800"/>
            <a:ext cx="2491740" cy="73152"/>
          </a:xfrm>
          <a:prstGeom prst="rect">
            <a:avLst/>
          </a:prstGeom>
          <a:solidFill>
            <a:srgbClr val="6B7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3940" y="1920240"/>
            <a:ext cx="24460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B72F0"/>
                </a:solidFill>
              </a:rPr>
              <a:t>٨٧ فرع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3940" y="246888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الفروع المتصلة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154680"/>
            <a:ext cx="10515600" cy="320040"/>
          </a:xfrm>
          <a:prstGeom prst="rect">
            <a:avLst/>
          </a:prstGeom>
          <a:solidFill>
            <a:srgbClr val="10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الحالة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التاريخ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79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المبلغ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الفرع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31729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المستأجر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7472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5204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✓ مُرسل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5204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٢٠٢٥/٠٤/١١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79" y="35204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٨٥٠٠ ر.س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599" y="35204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الفرع الرئيسي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35204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متجر الأناقة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977639"/>
            <a:ext cx="10515600" cy="457200"/>
          </a:xfrm>
          <a:prstGeom prst="rect">
            <a:avLst/>
          </a:prstGeom>
          <a:solidFill>
            <a:srgbClr val="0B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023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</a:rPr>
              <a:t>✓ مُرسل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4023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٢٠٢٥/٠٤/١١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79" y="4023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٦٢٠٠ ر.س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599" y="4023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فرع العليا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19" y="402335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بيت العباءات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480560"/>
            <a:ext cx="105156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97706"/>
                </a:solidFill>
              </a:rPr>
              <a:t>⏳ معلق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٢٠٢٥/٠٤/١٠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79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٣٤٠٠ ر.س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599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فرع النخيل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19" y="4526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إكسسوار بلس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640080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لوحة التحكم — بسيطة وواضحة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تطبيقات الهوية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48143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88636" y="1463039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88636" y="146303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17319"/>
            <a:ext cx="40827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9E0B"/>
                </a:solidFill>
              </a:rPr>
              <a:t>الموقع الإلكتروني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0827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landing-page marketing
صفحة تسويقية احترافية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3036" y="1280160"/>
            <a:ext cx="4814316" cy="2286000"/>
          </a:xfrm>
          <a:prstGeom prst="roundRect">
            <a:avLst/>
          </a:prstGeom>
          <a:solidFill>
            <a:srgbClr val="121A2C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68712" y="1463039"/>
            <a:ext cx="594360" cy="5943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68712" y="146303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0196" y="1417319"/>
            <a:ext cx="40827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D97706"/>
                </a:solidFill>
              </a:rPr>
              <a:t>تطبيق الجوال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0196" y="1965960"/>
            <a:ext cx="40827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mobile app (upcoming)
تجربة متنقلة كاملة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0479"/>
            <a:ext cx="4814316" cy="228600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88636" y="4023359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88636" y="402335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77639"/>
            <a:ext cx="40827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10B981"/>
                </a:solidFill>
              </a:rPr>
              <a:t>بوت المبيعات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26279"/>
            <a:ext cx="40827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WhatsApp / Telegram
إرسال مبيعات عبر البوت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3036" y="3840479"/>
            <a:ext cx="4814316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268712" y="4023359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68712" y="402335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0196" y="3977639"/>
            <a:ext cx="40827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9E0B"/>
                </a:solidFill>
              </a:rPr>
              <a:t>تقارير العملاء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0196" y="4526279"/>
            <a:ext cx="408279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7280"/>
                </a:solidFill>
              </a:rPr>
              <a:t>client reports
تقارير مخصصة لكل مشغل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رسائل العلامة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5225796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4476" y="1188720"/>
            <a:ext cx="5225796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2257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✓  قل هكذا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6" y="1188720"/>
            <a:ext cx="52257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✗  لا تقل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5225796" cy="1097280"/>
          </a:xfrm>
          <a:prstGeom prst="roundRect">
            <a:avLst/>
          </a:prstGeom>
          <a:solidFill>
            <a:srgbClr val="0814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79"/>
            <a:ext cx="49514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أرسل مبيعاتك في ثوانٍ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4476" y="1874519"/>
            <a:ext cx="5225796" cy="1097280"/>
          </a:xfrm>
          <a:prstGeom prst="roundRect">
            <a:avLst/>
          </a:prstGeom>
          <a:solidFill>
            <a:srgbClr val="14080C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1636" y="2011679"/>
            <a:ext cx="49514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B7280"/>
                </a:solidFill>
              </a:rPr>
              <a:t>استخدم النظام لإرسال البيانات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5225796" cy="1097280"/>
          </a:xfrm>
          <a:prstGeom prst="roundRect">
            <a:avLst/>
          </a:prstGeom>
          <a:solidFill>
            <a:srgbClr val="0B1825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83279"/>
            <a:ext cx="49514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شريكك الذكي في المبيعات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4476" y="3246120"/>
            <a:ext cx="5225796" cy="1097280"/>
          </a:xfrm>
          <a:prstGeom prst="roundRect">
            <a:avLst/>
          </a:prstGeom>
          <a:solidFill>
            <a:srgbClr val="180B10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36" y="3383279"/>
            <a:ext cx="49514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B7280"/>
                </a:solidFill>
              </a:rPr>
              <a:t>برنامج إدارة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17720"/>
            <a:ext cx="5225796" cy="1097280"/>
          </a:xfrm>
          <a:prstGeom prst="roundRect">
            <a:avLst/>
          </a:prstGeom>
          <a:solidFill>
            <a:srgbClr val="08141E"/>
          </a:solidFill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49514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</a:rPr>
              <a:t>مصمم للسوق السعودي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4476" y="4617720"/>
            <a:ext cx="5225796" cy="1097280"/>
          </a:xfrm>
          <a:prstGeom prst="roundRect">
            <a:avLst/>
          </a:prstGeom>
          <a:solidFill>
            <a:srgbClr val="14080C"/>
          </a:solidFill>
          <a:ln w="101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36" y="4754880"/>
            <a:ext cx="495147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6B7280"/>
                </a:solidFill>
              </a:rPr>
              <a:t>متوفر باللغة العربية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</a:rPr>
              <a:t>وعد العلامة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1078992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2A3045"/>
                </a:solidFill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9439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نعدك بأن كل ريال تُدخله في مشاركة
يصل إلى سينومي بدقة 100%
— في الوقت المحدد، في كل مرة.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32004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0" b="1" i="0">
                <a:solidFill>
                  <a:srgbClr val="2A3045"/>
                </a:solidFill>
              </a:rPr>
              <a:t>"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937760"/>
            <a:ext cx="75895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16636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59E0B"/>
                </a:solidFill>
              </a:rPr>
              <a:t>هذا ليس شعاراً — هذا التزام مكتوب في كل سطر من كود مشاركة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894076" y="228600"/>
            <a:ext cx="6400800" cy="6400800"/>
          </a:xfrm>
          <a:prstGeom prst="ellipse">
            <a:avLst/>
          </a:prstGeom>
          <a:solidFill>
            <a:srgbClr val="12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4076" y="228600"/>
            <a:ext cx="64008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0" b="1">
                <a:solidFill>
                  <a:srgbClr val="141E34"/>
                </a:solidFill>
              </a:rPr>
              <a:t>م</a:t>
            </a:r>
          </a:p>
        </p:txBody>
      </p:sp>
      <p:sp>
        <p:nvSpPr>
          <p:cNvPr id="4" name="Oval 3"/>
          <p:cNvSpPr/>
          <p:nvPr/>
        </p:nvSpPr>
        <p:spPr>
          <a:xfrm>
            <a:off x="3808476" y="1143000"/>
            <a:ext cx="4572000" cy="4572000"/>
          </a:xfrm>
          <a:prstGeom prst="ellipse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22876" y="2057400"/>
            <a:ext cx="2743200" cy="2743200"/>
          </a:xfrm>
          <a:prstGeom prst="ellipse">
            <a:avLst/>
          </a:prstGeom>
          <a:solidFill>
            <a:srgbClr val="1E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59E0B"/>
                </a:solidFill>
              </a:rPr>
              <a:t>مشاركة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1276" y="4114800"/>
            <a:ext cx="54864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شريكك في إدارة مبيعاتك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© 2025 جميع الحقوق محفوظة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3308" y="5852160"/>
            <a:ext cx="402336" cy="40233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3308" y="585216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64592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6459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4922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