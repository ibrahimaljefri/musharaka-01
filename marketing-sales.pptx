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480000">
            <a:off x="-457200" y="0"/>
            <a:ext cx="2560320" cy="75438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480000">
            <a:off x="137160" y="0"/>
            <a:ext cx="914400" cy="75438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37392" y="274320"/>
            <a:ext cx="777240" cy="77724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0D1B2A"/>
                </a:solidFill>
                <a:latin typeface="Arial"/>
              </a:rPr>
              <a:t>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097280"/>
            <a:ext cx="8961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600" b="1" i="0">
                <a:solidFill>
                  <a:srgbClr val="FFFFFF"/>
                </a:solidFill>
                <a:latin typeface="Arial"/>
              </a:rPr>
              <a:t>مشاركة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32004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000" b="0" i="0">
                <a:solidFill>
                  <a:srgbClr val="D4A017"/>
                </a:solidFill>
                <a:latin typeface="Arial"/>
              </a:rPr>
              <a:t>منصة إدارة مبيعات الفروع الأذكى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402336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 i="0">
                <a:solidFill>
                  <a:srgbClr val="CBD5E1"/>
                </a:solidFill>
                <a:latin typeface="Arial"/>
              </a:rPr>
              <a:t>أرسل مبيعاتك — آلياً، دقيقاً، في ثوانٍ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594360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CBD5E1"/>
                </a:solidFill>
                <a:latin typeface="Arial"/>
              </a:rPr>
              <a:t>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320272" y="274320"/>
            <a:ext cx="594360" cy="59436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0D1B2A"/>
                </a:solidFill>
                <a:latin typeface="Arial"/>
              </a:rPr>
              <a:t>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 i="0">
                <a:solidFill>
                  <a:srgbClr val="D4A017"/>
                </a:solidFill>
                <a:latin typeface="Arial"/>
              </a:rPr>
              <a:t>التحدي اليومي للمستأجرين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4552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rial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45920"/>
            <a:ext cx="3383280" cy="3200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745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🕐  إهدار الوقت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6032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0" i="0">
                <a:solidFill>
                  <a:srgbClr val="FFFFFF"/>
                </a:solidFill>
                <a:latin typeface="Arial"/>
              </a:rPr>
              <a:t>إدخال يدوي متكرر لبيانات المبيعات يومياً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1645920"/>
            <a:ext cx="3383280" cy="320040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8745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❌  أخطاء بشرية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56032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0" i="0">
                <a:solidFill>
                  <a:srgbClr val="FFFFFF"/>
                </a:solidFill>
                <a:latin typeface="Arial"/>
              </a:rPr>
              <a:t>أخطاء في الأرقام تؤدي إلى خلافات مع المركز التجاري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1645920"/>
            <a:ext cx="3383280" cy="3200400"/>
          </a:xfrm>
          <a:prstGeom prst="rect">
            <a:avLst/>
          </a:prstGeom>
          <a:solidFill>
            <a:srgbClr val="1E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8745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rial"/>
              </a:rPr>
              <a:t>📋  تقارير متأخرة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56032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0" i="0">
                <a:solidFill>
                  <a:srgbClr val="FFFFFF"/>
                </a:solidFill>
                <a:latin typeface="Arial"/>
              </a:rPr>
              <a:t>صعوبة تتبع الإرساليات والتحقق من وصولها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320272" y="274320"/>
            <a:ext cx="594360" cy="59436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0D1B2A"/>
                </a:solidFill>
                <a:latin typeface="Arial"/>
              </a:rPr>
              <a:t>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 i="0">
                <a:solidFill>
                  <a:srgbClr val="D4A017"/>
                </a:solidFill>
                <a:latin typeface="Arial"/>
              </a:rPr>
              <a:t>مشاركة — الحل الشامل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4552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rial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737360"/>
            <a:ext cx="9418320" cy="10058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7830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1B2A"/>
                </a:solidFill>
                <a:latin typeface="Arial"/>
              </a:rPr>
              <a:t>منصة واحدة. كل فروعك. صفر أخطاء.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017520"/>
            <a:ext cx="3291840" cy="237744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3017520"/>
            <a:ext cx="329184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2918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Arial"/>
              </a:rPr>
              <a:t>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1480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إدخال ذكي للمبيعات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3017520"/>
            <a:ext cx="3291840" cy="237744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3017520"/>
            <a:ext cx="329184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32918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Arial"/>
              </a:rPr>
              <a:t>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411480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إرسال آلي لسينومي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26680" y="3017520"/>
            <a:ext cx="3291840" cy="237744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26680" y="3017520"/>
            <a:ext cx="329184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80" y="32918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Arial"/>
              </a:rPr>
              <a:t>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11480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تقارير لحظية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320272" y="274320"/>
            <a:ext cx="594360" cy="59436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0D1B2A"/>
                </a:solidFill>
                <a:latin typeface="Arial"/>
              </a:rPr>
              <a:t>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 i="0">
                <a:solidFill>
                  <a:srgbClr val="D4A017"/>
                </a:solidFill>
                <a:latin typeface="Arial"/>
              </a:rPr>
              <a:t>آلية العمل — 3 خطوات فقط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4552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rial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790956" y="1828800"/>
            <a:ext cx="3017520" cy="329184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0956" y="1828800"/>
            <a:ext cx="3017520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" y="20574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D4A017"/>
                </a:solidFill>
                <a:latin typeface="Arial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6" y="297180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أدخل المبيعات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" y="37490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BD5E1"/>
                </a:solidFill>
                <a:latin typeface="Arial"/>
              </a:rPr>
              <a:t>يومي / شهري / فترة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22776" y="3291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4A017"/>
                </a:solidFill>
                <a:latin typeface="Arial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85716" y="1828800"/>
            <a:ext cx="3017520" cy="329184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85716" y="1828800"/>
            <a:ext cx="3017520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5716" y="20574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D4A017"/>
                </a:solidFill>
                <a:latin typeface="Arial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7156" y="297180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التحقق الآلي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7156" y="37490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BD5E1"/>
                </a:solidFill>
                <a:latin typeface="Arial"/>
              </a:rPr>
              <a:t>النظام يوزّع ويتحقق آلياً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7536" y="3291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4A017"/>
                </a:solidFill>
                <a:latin typeface="Arial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80476" y="1828800"/>
            <a:ext cx="3017520" cy="329184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80476" y="1828800"/>
            <a:ext cx="3017520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0476" y="20574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D4A017"/>
                </a:solidFill>
                <a:latin typeface="Arial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1916" y="297180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الإرسال لسينومي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1916" y="37490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BD5E1"/>
                </a:solidFill>
                <a:latin typeface="Arial"/>
              </a:rPr>
              <a:t>إرسال فوري مع تأكيد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320272" y="274320"/>
            <a:ext cx="594360" cy="59436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0D1B2A"/>
                </a:solidFill>
                <a:latin typeface="Arial"/>
              </a:rPr>
              <a:t>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 i="0">
                <a:solidFill>
                  <a:srgbClr val="D4A017"/>
                </a:solidFill>
                <a:latin typeface="Arial"/>
              </a:rPr>
              <a:t>أدخل مبيعاتك من أي مكان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4552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rial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37360"/>
            <a:ext cx="5394960" cy="34747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539496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96596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  <a:latin typeface="Arial"/>
              </a:rPr>
              <a:t>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3464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لوحة التحكم الويب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747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BD5E1"/>
                </a:solidFill>
                <a:latin typeface="Arial"/>
              </a:rPr>
              <a:t>واجهة سهلة من أي جهاز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5394960" cy="34747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737360"/>
            <a:ext cx="539496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96596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  <a:latin typeface="Arial"/>
              </a:rPr>
              <a:t>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83464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بوت واتساب وتيليجرام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4747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BD5E1"/>
                </a:solidFill>
                <a:latin typeface="Arial"/>
              </a:rPr>
              <a:t>أرسل رسالة نصية بسيطة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5486400"/>
            <a:ext cx="10360152" cy="82296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57784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0B981"/>
                </a:solidFill>
                <a:latin typeface="Arial"/>
              </a:rPr>
              <a:t>"مبيعات اليوم 5000"  →  يُسجَّل فوراً  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320272" y="274320"/>
            <a:ext cx="594360" cy="59436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0D1B2A"/>
                </a:solidFill>
                <a:latin typeface="Arial"/>
              </a:rPr>
              <a:t>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 i="0">
                <a:solidFill>
                  <a:srgbClr val="D4A017"/>
                </a:solidFill>
                <a:latin typeface="Arial"/>
              </a:rPr>
              <a:t>ما الذي يميّز مشاركة؟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4552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rial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608076" y="1645920"/>
            <a:ext cx="3474720" cy="20116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8076" y="1645920"/>
            <a:ext cx="64008" cy="20116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" y="18745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Arial"/>
              </a:rPr>
              <a:t>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" y="2606040"/>
            <a:ext cx="3154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FFFFFF"/>
                </a:solidFill>
                <a:latin typeface="Arial"/>
              </a:rPr>
              <a:t>تكامل مباشر مع سينومي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57116" y="1645920"/>
            <a:ext cx="3474720" cy="20116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57116" y="1645920"/>
            <a:ext cx="64008" cy="20116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9996" y="18745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Arial"/>
              </a:rPr>
              <a:t>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9996" y="2606040"/>
            <a:ext cx="3154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FFFFFF"/>
                </a:solidFill>
                <a:latin typeface="Arial"/>
              </a:rPr>
              <a:t>بوت ذكي (واتساب/تيليجرام)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6156" y="1645920"/>
            <a:ext cx="3474720" cy="20116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06156" y="1645920"/>
            <a:ext cx="64008" cy="20116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9036" y="18745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Arial"/>
              </a:rPr>
              <a:t>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9036" y="2606040"/>
            <a:ext cx="3154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FFFFFF"/>
                </a:solidFill>
                <a:latin typeface="Arial"/>
              </a:rPr>
              <a:t>تقارير وتحليلات لحظية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" y="3886200"/>
            <a:ext cx="3474720" cy="20116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8076" y="3886200"/>
            <a:ext cx="64008" cy="20116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0956" y="41148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Arial"/>
              </a:rPr>
              <a:t>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" y="4846320"/>
            <a:ext cx="3154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FFFFFF"/>
                </a:solidFill>
                <a:latin typeface="Arial"/>
              </a:rPr>
              <a:t>دعم متعدد الفروع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57116" y="3886200"/>
            <a:ext cx="3474720" cy="20116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57116" y="3886200"/>
            <a:ext cx="64008" cy="20116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39996" y="41148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Arial"/>
              </a:rPr>
              <a:t>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39996" y="4846320"/>
            <a:ext cx="3154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FFFFFF"/>
                </a:solidFill>
                <a:latin typeface="Arial"/>
              </a:rPr>
              <a:t>أمان عالي المستوى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06156" y="3886200"/>
            <a:ext cx="3474720" cy="20116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06156" y="3886200"/>
            <a:ext cx="64008" cy="20116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89036" y="41148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Arial"/>
              </a:rPr>
              <a:t>🎫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9036" y="4846320"/>
            <a:ext cx="3154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FFFFFF"/>
                </a:solidFill>
                <a:latin typeface="Arial"/>
              </a:rPr>
              <a:t>دعم فني متكامل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320272" y="274320"/>
            <a:ext cx="594360" cy="59436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0D1B2A"/>
                </a:solidFill>
                <a:latin typeface="Arial"/>
              </a:rPr>
              <a:t>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 i="0">
                <a:solidFill>
                  <a:srgbClr val="D4A017"/>
                </a:solidFill>
                <a:latin typeface="Arial"/>
              </a:rPr>
              <a:t>بوت المبيعات — أرسل برسالة واحدة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4552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rial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4416552" y="1737360"/>
            <a:ext cx="6858000" cy="777240"/>
          </a:xfrm>
          <a:prstGeom prst="rect">
            <a:avLst/>
          </a:prstGeom>
          <a:solidFill>
            <a:srgbClr val="075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9432" y="1828800"/>
            <a:ext cx="6492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0">
                <a:solidFill>
                  <a:srgbClr val="FFFFFF"/>
                </a:solidFill>
                <a:latin typeface="Arial"/>
              </a:rPr>
              <a:t>مبيعات اليوم 5000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4416552" y="2880360"/>
            <a:ext cx="6858000" cy="777240"/>
          </a:xfrm>
          <a:prstGeom prst="rect">
            <a:avLst/>
          </a:prstGeom>
          <a:solidFill>
            <a:srgbClr val="075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2" y="2971800"/>
            <a:ext cx="6492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0">
                <a:solidFill>
                  <a:srgbClr val="FFFFFF"/>
                </a:solidFill>
                <a:latin typeface="Arial"/>
              </a:rPr>
              <a:t>مبيعات شهر مارس 80000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16552" y="4023360"/>
            <a:ext cx="6858000" cy="777240"/>
          </a:xfrm>
          <a:prstGeom prst="rect">
            <a:avLst/>
          </a:prstGeom>
          <a:solidFill>
            <a:srgbClr val="075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4114800"/>
            <a:ext cx="6492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0">
                <a:solidFill>
                  <a:srgbClr val="FFFFFF"/>
                </a:solidFill>
                <a:latin typeface="Arial"/>
              </a:rPr>
              <a:t>فرع جدة: مبيعات من 1 أبريل إلى 15 أبريل 25000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28632" y="4800600"/>
            <a:ext cx="1463040" cy="41148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28632" y="48006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  <a:latin typeface="Arial"/>
              </a:rPr>
              <a:t>✓ تم الإرسال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66928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0" i="0">
                <a:solidFill>
                  <a:srgbClr val="D4A017"/>
                </a:solidFill>
                <a:latin typeface="Arial"/>
              </a:rPr>
              <a:t>يعمل على واتساب وتيليجرام — بدون تطبيق إضافي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320272" y="274320"/>
            <a:ext cx="594360" cy="59436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0D1B2A"/>
                </a:solidFill>
                <a:latin typeface="Arial"/>
              </a:rPr>
              <a:t>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 i="0">
                <a:solidFill>
                  <a:srgbClr val="D4A017"/>
                </a:solidFill>
                <a:latin typeface="Arial"/>
              </a:rPr>
              <a:t>لوحة تحكم شاملة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4552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rial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790956" y="1645920"/>
            <a:ext cx="3291840" cy="146304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0956" y="1645920"/>
            <a:ext cx="329184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8116" y="17830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0B981"/>
                </a:solidFill>
                <a:latin typeface="Arial"/>
              </a:rPr>
              <a:t>٤٨٠,٠٠٠ ر.س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8116" y="2560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BD5E1"/>
                </a:solidFill>
                <a:latin typeface="Arial"/>
              </a:rPr>
              <a:t>إجمالي المبيعات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48556" y="1645920"/>
            <a:ext cx="3291840" cy="146304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48556" y="1645920"/>
            <a:ext cx="329184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5716" y="17830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9E0B"/>
                </a:solidFill>
                <a:latin typeface="Arial"/>
              </a:rPr>
              <a:t>١٢ تقرير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5716" y="2560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BD5E1"/>
                </a:solidFill>
                <a:latin typeface="Arial"/>
              </a:rPr>
              <a:t>المعلقة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6156" y="1645920"/>
            <a:ext cx="3291840" cy="146304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06156" y="1645920"/>
            <a:ext cx="3291840" cy="6400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3316" y="17830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D4A017"/>
                </a:solidFill>
                <a:latin typeface="Arial"/>
              </a:rPr>
              <a:t>٩٨٪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3316" y="2560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BD5E1"/>
                </a:solidFill>
                <a:latin typeface="Arial"/>
              </a:rPr>
              <a:t>المُرسلة لسينومي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474720"/>
            <a:ext cx="1036015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>
                <a:solidFill>
                  <a:srgbClr val="FFFFFF"/>
                </a:solidFill>
                <a:latin typeface="Arial"/>
              </a:rPr>
              <a:t>• جداول مفصّلة لكل فرع وكل فترة</a:t>
            </a:r>
          </a:p>
          <a:p>
            <a:pPr algn="r"/>
            <a:r>
              <a:rPr sz="1800" b="0">
                <a:solidFill>
                  <a:srgbClr val="FFFFFF"/>
                </a:solidFill>
                <a:latin typeface="Arial"/>
              </a:rPr>
              <a:t>• إشعارات فورية عند نجاح أو فشل الإرسال</a:t>
            </a:r>
          </a:p>
          <a:p>
            <a:pPr algn="r"/>
            <a:r>
              <a:rPr sz="1800" b="0">
                <a:solidFill>
                  <a:srgbClr val="FFFFFF"/>
                </a:solidFill>
                <a:latin typeface="Arial"/>
              </a:rPr>
              <a:t>• تصدير التقارير بسهولة</a:t>
            </a:r>
          </a:p>
          <a:p>
            <a:pPr algn="r"/>
            <a:r>
              <a:rPr sz="1800" b="0">
                <a:solidFill>
                  <a:srgbClr val="FFFFFF"/>
                </a:solidFill>
                <a:latin typeface="Arial"/>
              </a:rPr>
              <a:t>• بطاقات KPI لحظية قابلة للتخصيص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320272" y="274320"/>
            <a:ext cx="594360" cy="59436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0D1B2A"/>
                </a:solidFill>
                <a:latin typeface="Arial"/>
              </a:rPr>
              <a:t>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 i="0">
                <a:solidFill>
                  <a:srgbClr val="D4A017"/>
                </a:solidFill>
                <a:latin typeface="Arial"/>
              </a:rPr>
              <a:t>أمان لا تساوم عليه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4552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rial"/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356616" y="1737360"/>
            <a:ext cx="2560320" cy="29260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6616" y="4599432"/>
            <a:ext cx="2560320" cy="6400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" y="196596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  <a:latin typeface="Arial"/>
              </a:rPr>
              <a:t>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" y="274320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تشفير كامل لجميع البيانات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" y="347472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BD5E1"/>
                </a:solidFill>
                <a:latin typeface="Arial"/>
              </a:rPr>
              <a:t>AES-256 encryption في التخزين والنقل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28416" y="1737360"/>
            <a:ext cx="2560320" cy="29260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28416" y="4599432"/>
            <a:ext cx="2560320" cy="6400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28416" y="196596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  <a:latin typeface="Arial"/>
              </a:rPr>
              <a:t>🛡️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9856" y="274320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مصادقة ثنائية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9856" y="347472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BD5E1"/>
                </a:solidFill>
                <a:latin typeface="Arial"/>
              </a:rPr>
              <a:t>Supabase Auth مع OTP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0216" y="1737360"/>
            <a:ext cx="2560320" cy="29260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0216" y="4599432"/>
            <a:ext cx="2560320" cy="6400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196596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  <a:latin typeface="Arial"/>
              </a:rPr>
              <a:t>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6" y="274320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RLS — عزل كامل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6" y="347472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BD5E1"/>
                </a:solidFill>
                <a:latin typeface="Arial"/>
              </a:rPr>
              <a:t>بيانات كل مستأجر معزولة تماماً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72016" y="1737360"/>
            <a:ext cx="2560320" cy="29260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72016" y="4599432"/>
            <a:ext cx="2560320" cy="6400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72016" y="196596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  <a:latin typeface="Arial"/>
              </a:rPr>
              <a:t>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3456" y="274320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سجل تفصيلي كامل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3456" y="347472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BD5E1"/>
                </a:solidFill>
                <a:latin typeface="Arial"/>
              </a:rPr>
              <a:t>كل عملية إرسال موثّقة ومؤرشفة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320272" y="274320"/>
            <a:ext cx="594360" cy="59436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0D1B2A"/>
                </a:solidFill>
                <a:latin typeface="Arial"/>
              </a:rPr>
              <a:t>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 i="0">
                <a:solidFill>
                  <a:srgbClr val="D4A017"/>
                </a:solidFill>
                <a:latin typeface="Arial"/>
              </a:rPr>
              <a:t>ماذا يقول عملاؤنا؟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4552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rial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53796" y="1828800"/>
            <a:ext cx="5212080" cy="320040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" y="19659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D4A017"/>
                </a:solidFill>
                <a:latin typeface="Arial"/>
              </a:rPr>
              <a:t>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" y="265176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0" i="0">
                <a:solidFill>
                  <a:srgbClr val="FFFFFF"/>
                </a:solidFill>
                <a:latin typeface="Arial"/>
              </a:rPr>
              <a:t>"وفّرنا أكثر من 3 ساعات يومياً في إدخال بيانات المبيعات"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" y="44348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D4A017"/>
                </a:solidFill>
                <a:latin typeface="Arial"/>
              </a:rPr>
              <a:t>— مدير فرع، سلسلة مطاعم — الرياض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23076" y="1828800"/>
            <a:ext cx="5212080" cy="320040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5956" y="19659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D4A017"/>
                </a:solidFill>
                <a:latin typeface="Arial"/>
              </a:rPr>
              <a:t>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5956" y="265176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0" i="0">
                <a:solidFill>
                  <a:srgbClr val="FFFFFF"/>
                </a:solidFill>
                <a:latin typeface="Arial"/>
              </a:rPr>
              <a:t>"انتهت مشاكل الأخطاء في التقارير المُرسلة لسينومي تماماً"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5956" y="44348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D4A017"/>
                </a:solidFill>
                <a:latin typeface="Arial"/>
              </a:rPr>
              <a:t>— مسؤول مالي، شركة أزياء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320272" y="274320"/>
            <a:ext cx="594360" cy="59436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0D1B2A"/>
                </a:solidFill>
                <a:latin typeface="Arial"/>
              </a:rPr>
              <a:t>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 i="0">
                <a:solidFill>
                  <a:srgbClr val="D4A017"/>
                </a:solidFill>
                <a:latin typeface="Arial"/>
              </a:rPr>
              <a:t>من يستفيد من مشاركة؟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4552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rial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699516" y="1737360"/>
            <a:ext cx="3383280" cy="34747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9516" y="1737360"/>
            <a:ext cx="3383280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" y="201168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  <a:latin typeface="Arial"/>
              </a:rPr>
              <a:t>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" y="292608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4A017"/>
                </a:solidFill>
                <a:latin typeface="Arial"/>
              </a:rPr>
              <a:t>مستأجرو المراكز التجارية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" y="36576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BD5E1"/>
                </a:solidFill>
                <a:latin typeface="Arial"/>
              </a:rPr>
              <a:t>فروع متعددة
إدخال يومي سريع
تقارير موحّدة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02836" y="1737360"/>
            <a:ext cx="3383280" cy="34747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2836" y="1737360"/>
            <a:ext cx="3383280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2836" y="201168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  <a:latin typeface="Arial"/>
              </a:rPr>
              <a:t>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9996" y="292608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4A017"/>
                </a:solidFill>
                <a:latin typeface="Arial"/>
              </a:rPr>
              <a:t>مشغلو المراكز التجارية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9996" y="36576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BD5E1"/>
                </a:solidFill>
                <a:latin typeface="Arial"/>
              </a:rPr>
              <a:t>متابعة تقارير المستأجرين
إحصائيات شاملة
تكامل Cenomi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06156" y="1737360"/>
            <a:ext cx="3383280" cy="34747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06156" y="1737360"/>
            <a:ext cx="3383280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06156" y="201168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  <a:latin typeface="Arial"/>
              </a:rPr>
              <a:t>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3316" y="292608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4A017"/>
                </a:solidFill>
                <a:latin typeface="Arial"/>
              </a:rPr>
              <a:t>فرق المبيعات الميدانية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3316" y="36576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BD5E1"/>
                </a:solidFill>
                <a:latin typeface="Arial"/>
              </a:rPr>
              <a:t>إرسال عبر البوت
أثناء التنقل
بدون حاسوب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320272" y="274320"/>
            <a:ext cx="594360" cy="59436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0D1B2A"/>
                </a:solidFill>
                <a:latin typeface="Arial"/>
              </a:rPr>
              <a:t>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 i="0">
                <a:solidFill>
                  <a:srgbClr val="D4A017"/>
                </a:solidFill>
                <a:latin typeface="Arial"/>
              </a:rPr>
              <a:t>خطط مرنة تناسب حجم عملك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4552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rial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699516" y="1737360"/>
            <a:ext cx="3383280" cy="365760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9516" y="1737360"/>
            <a:ext cx="3383280" cy="914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" y="19202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BD5E1"/>
                </a:solidFill>
                <a:latin typeface="Arial"/>
              </a:rPr>
              <a:t>أساسي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6" y="2697480"/>
            <a:ext cx="3017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 i="0">
                <a:solidFill>
                  <a:srgbClr val="FFFFFF"/>
                </a:solidFill>
                <a:latin typeface="Arial"/>
              </a:rPr>
              <a:t>• فرع واحد
• إدخال يومي
• تقارير أساسية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02836" y="1737360"/>
            <a:ext cx="3383280" cy="3657600"/>
          </a:xfrm>
          <a:prstGeom prst="rect">
            <a:avLst/>
          </a:prstGeom>
          <a:solidFill>
            <a:srgbClr val="1C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2836" y="1737360"/>
            <a:ext cx="338328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9996" y="19202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0B981"/>
                </a:solidFill>
                <a:latin typeface="Arial"/>
              </a:rPr>
              <a:t>احترافي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5716" y="2697480"/>
            <a:ext cx="3017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 i="0">
                <a:solidFill>
                  <a:srgbClr val="FFFFFF"/>
                </a:solidFill>
                <a:latin typeface="Arial"/>
              </a:rPr>
              <a:t>• فروع متعددة
• تقارير متقدمة
• استيراد Excel
• بوت واتساب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6156" y="1737360"/>
            <a:ext cx="3383280" cy="3657600"/>
          </a:xfrm>
          <a:prstGeom prst="rect">
            <a:avLst/>
          </a:prstGeom>
          <a:solidFill>
            <a:srgbClr val="3B2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06156" y="1737360"/>
            <a:ext cx="3383280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3316" y="19202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D4A017"/>
                </a:solidFill>
                <a:latin typeface="Arial"/>
              </a:rPr>
              <a:t>مؤسسي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9036" y="2697480"/>
            <a:ext cx="3017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 i="0">
                <a:solidFill>
                  <a:srgbClr val="FFFFFF"/>
                </a:solidFill>
                <a:latin typeface="Arial"/>
              </a:rPr>
              <a:t>• API كامل
• بوت مخصص
• دعم أولوية
• تخصيص كامل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320272" y="274320"/>
            <a:ext cx="594360" cy="59436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0D1B2A"/>
                </a:solidFill>
                <a:latin typeface="Arial"/>
              </a:rPr>
              <a:t>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 i="0">
                <a:solidFill>
                  <a:srgbClr val="D4A017"/>
                </a:solidFill>
                <a:latin typeface="Arial"/>
              </a:rPr>
              <a:t>مُعتمد ومتكامل مع سينومي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4552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rial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3808476" y="1737360"/>
            <a:ext cx="4572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08476" y="1874520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D4A017"/>
                </a:solidFill>
                <a:latin typeface="Arial"/>
              </a:rPr>
              <a:t>سينومي  ×  مشاركة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017520"/>
            <a:ext cx="9418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Arial"/>
              </a:rPr>
              <a:t>🔗  اتصال مباشر عبر Cenomi Direct Share API</a:t>
            </a:r>
          </a:p>
          <a:p>
            <a:pPr algn="r"/>
            <a:r>
              <a:rPr sz="1800" b="0">
                <a:solidFill>
                  <a:srgbClr val="FFFFFF"/>
                </a:solidFill>
                <a:latin typeface="Arial"/>
              </a:rPr>
              <a:t>⚡  إرسال آلي فور الموافقة</a:t>
            </a:r>
          </a:p>
          <a:p>
            <a:pPr algn="r"/>
            <a:r>
              <a:rPr sz="1800" b="0">
                <a:solidFill>
                  <a:srgbClr val="FFFFFF"/>
                </a:solidFill>
                <a:latin typeface="Arial"/>
              </a:rPr>
              <a:t>✅  تأكيد وصول فوري لكل إرسالية</a:t>
            </a:r>
          </a:p>
          <a:p>
            <a:pPr algn="r"/>
            <a:r>
              <a:rPr sz="1800" b="0">
                <a:solidFill>
                  <a:srgbClr val="FFFFFF"/>
                </a:solidFill>
                <a:latin typeface="Arial"/>
              </a:rPr>
              <a:t>📋  سجل تفصيلي لكل عملية إرسال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320272" y="274320"/>
            <a:ext cx="594360" cy="59436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0D1B2A"/>
                </a:solidFill>
                <a:latin typeface="Arial"/>
              </a:rPr>
              <a:t>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 i="0">
                <a:solidFill>
                  <a:srgbClr val="D4A017"/>
                </a:solidFill>
                <a:latin typeface="Arial"/>
              </a:rPr>
              <a:t>قادم قريباً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4552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rial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337560"/>
            <a:ext cx="10725912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935099" y="3218688"/>
            <a:ext cx="274320" cy="27432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268147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Arial"/>
              </a:rPr>
              <a:t>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268147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4A017"/>
                </a:solidFill>
                <a:latin typeface="Arial"/>
              </a:rPr>
              <a:t>Q2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68147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تطبيق جوال iOS/Android</a:t>
            </a:r>
          </a:p>
        </p:txBody>
      </p:sp>
      <p:sp>
        <p:nvSpPr>
          <p:cNvPr id="11" name="Oval 10"/>
          <p:cNvSpPr/>
          <p:nvPr/>
        </p:nvSpPr>
        <p:spPr>
          <a:xfrm>
            <a:off x="4616577" y="3218688"/>
            <a:ext cx="274320" cy="27432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2998" y="2103120"/>
            <a:ext cx="268147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Arial"/>
              </a:rPr>
              <a:t>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2998" y="2606040"/>
            <a:ext cx="268147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4A017"/>
                </a:solidFill>
                <a:latin typeface="Arial"/>
              </a:rPr>
              <a:t>Q3 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2998" y="3566160"/>
            <a:ext cx="268147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لوحة تحليلات متقدمة (AI)</a:t>
            </a:r>
          </a:p>
        </p:txBody>
      </p:sp>
      <p:sp>
        <p:nvSpPr>
          <p:cNvPr id="15" name="Oval 14"/>
          <p:cNvSpPr/>
          <p:nvPr/>
        </p:nvSpPr>
        <p:spPr>
          <a:xfrm>
            <a:off x="7298055" y="3218688"/>
            <a:ext cx="274320" cy="27432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4476" y="2103120"/>
            <a:ext cx="268147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Arial"/>
              </a:rPr>
              <a:t>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4476" y="2606040"/>
            <a:ext cx="268147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4A017"/>
                </a:solidFill>
                <a:latin typeface="Arial"/>
              </a:rPr>
              <a:t>Q3 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4476" y="3566160"/>
            <a:ext cx="268147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تكامل مع منصات إضافية</a:t>
            </a:r>
          </a:p>
        </p:txBody>
      </p:sp>
      <p:sp>
        <p:nvSpPr>
          <p:cNvPr id="19" name="Oval 18"/>
          <p:cNvSpPr/>
          <p:nvPr/>
        </p:nvSpPr>
        <p:spPr>
          <a:xfrm>
            <a:off x="9979533" y="3218688"/>
            <a:ext cx="274320" cy="27432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5954" y="2103120"/>
            <a:ext cx="268147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Arial"/>
              </a:rPr>
              <a:t>⚙️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5954" y="2606040"/>
            <a:ext cx="268147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4A017"/>
                </a:solidFill>
                <a:latin typeface="Arial"/>
              </a:rPr>
              <a:t>Q4 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5954" y="3566160"/>
            <a:ext cx="268147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API مفتوح للمطورين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320272" y="274320"/>
            <a:ext cx="594360" cy="59436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0D1B2A"/>
                </a:solidFill>
                <a:latin typeface="Arial"/>
              </a:rPr>
              <a:t>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 i="0">
                <a:solidFill>
                  <a:srgbClr val="D4A017"/>
                </a:solidFill>
                <a:latin typeface="Arial"/>
              </a:rPr>
              <a:t>مشاركة مقابل الطريقة التقليدية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4552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rial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4846320" cy="557784"/>
          </a:xfrm>
          <a:prstGeom prst="rect">
            <a:avLst/>
          </a:prstGeom>
          <a:solidFill>
            <a:srgbClr val="2D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0" y="1645920"/>
            <a:ext cx="4846320" cy="557784"/>
          </a:xfrm>
          <a:prstGeom prst="rect">
            <a:avLst/>
          </a:prstGeom>
          <a:solidFill>
            <a:srgbClr val="062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F59E0B"/>
                </a:solidFill>
                <a:latin typeface="Arial"/>
              </a:rPr>
              <a:t>الطريقة التقليدية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17373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10B981"/>
                </a:solidFill>
                <a:latin typeface="Arial"/>
              </a:rPr>
              <a:t>مشاركة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240280"/>
            <a:ext cx="4846320" cy="557784"/>
          </a:xfrm>
          <a:prstGeom prst="rect">
            <a:avLst/>
          </a:prstGeom>
          <a:solidFill>
            <a:srgbClr val="3B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0" y="2240280"/>
            <a:ext cx="4846320" cy="557784"/>
          </a:xfrm>
          <a:prstGeom prst="rect">
            <a:avLst/>
          </a:prstGeom>
          <a:solidFill>
            <a:srgbClr val="06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3317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BD5E1"/>
                </a:solidFill>
                <a:latin typeface="Arial"/>
              </a:rPr>
              <a:t>إدخال يدوي يومي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23317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FFFFFF"/>
                </a:solidFill>
                <a:latin typeface="Arial"/>
              </a:rPr>
              <a:t>إدخال ذكي بنقرة واحدة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834640"/>
            <a:ext cx="4846320" cy="557784"/>
          </a:xfrm>
          <a:prstGeom prst="rect">
            <a:avLst/>
          </a:prstGeom>
          <a:solidFill>
            <a:srgbClr val="3B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0" y="2834640"/>
            <a:ext cx="4846320" cy="557784"/>
          </a:xfrm>
          <a:prstGeom prst="rect">
            <a:avLst/>
          </a:prstGeom>
          <a:solidFill>
            <a:srgbClr val="06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9260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BD5E1"/>
                </a:solidFill>
                <a:latin typeface="Arial"/>
              </a:rPr>
              <a:t>أخطاء بشرية متكررة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29260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FFFFFF"/>
                </a:solidFill>
                <a:latin typeface="Arial"/>
              </a:rPr>
              <a:t>تحقق آلي 100%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429000"/>
            <a:ext cx="4846320" cy="557784"/>
          </a:xfrm>
          <a:prstGeom prst="rect">
            <a:avLst/>
          </a:prstGeom>
          <a:solidFill>
            <a:srgbClr val="3B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15000" y="3429000"/>
            <a:ext cx="4846320" cy="557784"/>
          </a:xfrm>
          <a:prstGeom prst="rect">
            <a:avLst/>
          </a:prstGeom>
          <a:solidFill>
            <a:srgbClr val="06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5204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BD5E1"/>
                </a:solidFill>
                <a:latin typeface="Arial"/>
              </a:rPr>
              <a:t>تأخر في الإرسال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35204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FFFFFF"/>
                </a:solidFill>
                <a:latin typeface="Arial"/>
              </a:rPr>
              <a:t>إرسال فوري لسينومي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023360"/>
            <a:ext cx="4846320" cy="557784"/>
          </a:xfrm>
          <a:prstGeom prst="rect">
            <a:avLst/>
          </a:prstGeom>
          <a:solidFill>
            <a:srgbClr val="3B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715000" y="4023360"/>
            <a:ext cx="4846320" cy="557784"/>
          </a:xfrm>
          <a:prstGeom prst="rect">
            <a:avLst/>
          </a:prstGeom>
          <a:solidFill>
            <a:srgbClr val="06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114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BD5E1"/>
                </a:solidFill>
                <a:latin typeface="Arial"/>
              </a:rPr>
              <a:t>لا تقارير موحّدة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4114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FFFFFF"/>
                </a:solidFill>
                <a:latin typeface="Arial"/>
              </a:rPr>
              <a:t>تقارير لحظية شاملة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617720"/>
            <a:ext cx="4846320" cy="557784"/>
          </a:xfrm>
          <a:prstGeom prst="rect">
            <a:avLst/>
          </a:prstGeom>
          <a:solidFill>
            <a:srgbClr val="3B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715000" y="4617720"/>
            <a:ext cx="4846320" cy="557784"/>
          </a:xfrm>
          <a:prstGeom prst="rect">
            <a:avLst/>
          </a:prstGeom>
          <a:solidFill>
            <a:srgbClr val="06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7091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BD5E1"/>
                </a:solidFill>
                <a:latin typeface="Arial"/>
              </a:rPr>
              <a:t>دعم بطيء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47091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FFFFFF"/>
                </a:solidFill>
                <a:latin typeface="Arial"/>
              </a:rPr>
              <a:t>تذاكر دعم مدمجة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320272" y="274320"/>
            <a:ext cx="594360" cy="59436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0D1B2A"/>
                </a:solidFill>
                <a:latin typeface="Arial"/>
              </a:rPr>
              <a:t>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 i="0">
                <a:solidFill>
                  <a:srgbClr val="D4A017"/>
                </a:solidFill>
                <a:latin typeface="Arial"/>
              </a:rPr>
              <a:t>ابدأ خلال 24 ساعة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4552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rial"/>
              </a:rP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608076" y="1828800"/>
            <a:ext cx="3017520" cy="329184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8076" y="1828800"/>
            <a:ext cx="3017520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8076" y="210312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D4A017"/>
                </a:solidFill>
                <a:latin typeface="Arial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" y="31089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Arial"/>
              </a:rPr>
              <a:t>تواصل معنا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" y="384048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BD5E1"/>
                </a:solidFill>
                <a:latin typeface="Arial"/>
              </a:rPr>
              <a:t>لتفعيل الحساب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51326" y="3246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4A017"/>
                </a:solidFill>
                <a:latin typeface="Arial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85716" y="1828800"/>
            <a:ext cx="3017520" cy="329184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85716" y="1828800"/>
            <a:ext cx="3017520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5716" y="210312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D4A017"/>
                </a:solidFill>
                <a:latin typeface="Arial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7156" y="31089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Arial"/>
              </a:rPr>
              <a:t>ندرّب فريقك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7156" y="384048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BD5E1"/>
                </a:solidFill>
                <a:latin typeface="Arial"/>
              </a:rPr>
              <a:t>أقل من ساعة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8966" y="3246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4A017"/>
                </a:solidFill>
                <a:latin typeface="Arial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63356" y="1828800"/>
            <a:ext cx="3017520" cy="329184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63356" y="1828800"/>
            <a:ext cx="3017520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63356" y="210312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D4A017"/>
                </a:solidFill>
                <a:latin typeface="Arial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4796" y="31089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Arial"/>
              </a:rPr>
              <a:t>ابدأ فوراً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4796" y="384048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BD5E1"/>
                </a:solidFill>
                <a:latin typeface="Arial"/>
              </a:rPr>
              <a:t>إرسال آلي مباشر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320272" y="274320"/>
            <a:ext cx="594360" cy="59436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0D1B2A"/>
                </a:solidFill>
                <a:latin typeface="Arial"/>
              </a:rPr>
              <a:t>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 i="0">
                <a:solidFill>
                  <a:srgbClr val="D4A017"/>
                </a:solidFill>
                <a:latin typeface="Arial"/>
              </a:rPr>
              <a:t>تواصل معنا اليوم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4552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rial"/>
              </a:rP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" y="1828800"/>
            <a:ext cx="2651760" cy="274320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1828800"/>
            <a:ext cx="265176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" y="20116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Arial"/>
              </a:rPr>
              <a:t>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" y="2788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4A017"/>
                </a:solidFill>
                <a:latin typeface="Arial"/>
              </a:rPr>
              <a:t>الموقع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333756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BD5E1"/>
                </a:solidFill>
                <a:latin typeface="Arial"/>
              </a:rPr>
              <a:t>[رابط المنصة]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82696" y="1828800"/>
            <a:ext cx="2651760" cy="274320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82696" y="1828800"/>
            <a:ext cx="265176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82696" y="20116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Arial"/>
              </a:rPr>
              <a:t>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74136" y="2788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4A017"/>
                </a:solidFill>
                <a:latin typeface="Arial"/>
              </a:rPr>
              <a:t>البريد الإلكتروني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4136" y="333756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BD5E1"/>
                </a:solidFill>
                <a:latin typeface="Arial"/>
              </a:rPr>
              <a:t>support@musharaka.sa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54496" y="1828800"/>
            <a:ext cx="2651760" cy="274320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4496" y="1828800"/>
            <a:ext cx="265176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4496" y="20116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Arial"/>
              </a:rPr>
              <a:t>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2788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4A017"/>
                </a:solidFill>
                <a:latin typeface="Arial"/>
              </a:rPr>
              <a:t>واتساب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333756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BD5E1"/>
                </a:solidFill>
                <a:latin typeface="Arial"/>
              </a:rPr>
              <a:t>متاح للدعم الفوري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26296" y="1828800"/>
            <a:ext cx="2651760" cy="274320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26296" y="1828800"/>
            <a:ext cx="265176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26296" y="20116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Arial"/>
              </a:rPr>
              <a:t>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17736" y="2788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4A017"/>
                </a:solidFill>
                <a:latin typeface="Arial"/>
              </a:rPr>
              <a:t>داخل النظام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7736" y="333756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BD5E1"/>
                </a:solidFill>
                <a:latin typeface="Arial"/>
              </a:rPr>
              <a:t>ارفع تذكرة دعم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351276" y="228600"/>
            <a:ext cx="5486400" cy="5486400"/>
          </a:xfrm>
          <a:prstGeom prst="ellipse">
            <a:avLst/>
          </a:prstGeom>
          <a:solidFill>
            <a:srgbClr val="18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8000" b="1">
                <a:solidFill>
                  <a:srgbClr val="20354C"/>
                </a:solidFill>
                <a:latin typeface="Arial"/>
              </a:rPr>
              <a:t>م</a:t>
            </a:r>
          </a:p>
        </p:txBody>
      </p:sp>
      <p:sp>
        <p:nvSpPr>
          <p:cNvPr id="3" name="Oval 2"/>
          <p:cNvSpPr/>
          <p:nvPr/>
        </p:nvSpPr>
        <p:spPr>
          <a:xfrm>
            <a:off x="11137392" y="274320"/>
            <a:ext cx="777240" cy="77724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0D1B2A"/>
                </a:solidFill>
                <a:latin typeface="Arial"/>
              </a:rPr>
              <a:t>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1" i="0">
                <a:solidFill>
                  <a:srgbClr val="FFFFFF"/>
                </a:solidFill>
                <a:latin typeface="Arial"/>
              </a:rPr>
              <a:t>مشاركة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01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D4A017"/>
                </a:solidFill>
                <a:latin typeface="Arial"/>
              </a:rPr>
              <a:t>شريكك في إدارة مبيعاتك</a:t>
            </a:r>
          </a:p>
        </p:txBody>
      </p:sp>
      <p:sp>
        <p:nvSpPr>
          <p:cNvPr id="6" name="Rectangle 5"/>
          <p:cNvSpPr/>
          <p:nvPr/>
        </p:nvSpPr>
        <p:spPr>
          <a:xfrm>
            <a:off x="4265676" y="4297680"/>
            <a:ext cx="365760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BD5E1"/>
                </a:solidFill>
                <a:latin typeface="Arial"/>
              </a:rPr>
              <a:t>حقوق محفوظة © 2025 مشاركة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